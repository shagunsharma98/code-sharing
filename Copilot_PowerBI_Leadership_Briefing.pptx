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A8C7A"/>
          </a:solidFill>
          <a:ln w="12700">
            <a:solidFill>
              <a:srgbClr val="1A8C7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-548640"/>
            <a:ext cx="2926080" cy="2926080"/>
          </a:xfrm>
          <a:prstGeom prst="ellipse">
            <a:avLst/>
          </a:prstGeom>
          <a:solidFill>
            <a:srgbClr val="1A8C7A">
              <a:alpha val="18000"/>
            </a:srgbClr>
          </a:solidFill>
          <a:ln w="12700">
            <a:solidFill>
              <a:srgbClr val="1A8C7A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182880"/>
            <a:ext cx="1828800" cy="1828800"/>
          </a:xfrm>
          <a:prstGeom prst="ellipse">
            <a:avLst/>
          </a:prstGeom>
          <a:solidFill>
            <a:srgbClr val="22B09A">
              <a:alpha val="25000"/>
            </a:srgbClr>
          </a:solidFill>
          <a:ln w="12700">
            <a:solidFill>
              <a:srgbClr val="22B09A">
                <a:alpha val="4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0058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22B0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BRIEFING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137160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in Power BI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411480" y="242316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8E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dashboards to decisions —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C8E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AI unlocks value in every business review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162447"/>
          </a:solidFill>
          <a:ln w="12700">
            <a:solidFill>
              <a:srgbClr val="16244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4526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8A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Card Acquisitions Analytics  ·  April 2026  ·  Confidential</a:t>
            </a:r>
            <a:endParaRPr lang="en-US" sz="11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>
            <a:alphaModFix amt="85000"/>
          </a:blip>
          <a:stretch>
            <a:fillRect/>
          </a:stretch>
        </p:blipFill>
        <p:spPr>
          <a:xfrm>
            <a:off x="6858000" y="1234440"/>
            <a:ext cx="1920240" cy="19202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502920" cy="502920"/>
          </a:xfrm>
          <a:prstGeom prst="ellipse">
            <a:avLst/>
          </a:prstGeom>
          <a:solidFill>
            <a:srgbClr val="1A8C7A"/>
          </a:solidFill>
          <a:ln w="12700">
            <a:solidFill>
              <a:srgbClr val="1A8C7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234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05840" y="1188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Worth Solving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15361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now, and why this?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005840" y="1874520"/>
            <a:ext cx="3657600" cy="0"/>
          </a:xfrm>
          <a:prstGeom prst="line">
            <a:avLst/>
          </a:prstGeom>
          <a:noFill/>
          <a:ln w="6350">
            <a:solidFill>
              <a:srgbClr val="E8EDE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2468880"/>
            <a:ext cx="502920" cy="502920"/>
          </a:xfrm>
          <a:prstGeom prst="ellipse">
            <a:avLst/>
          </a:prstGeom>
          <a:solidFill>
            <a:srgbClr val="1A8C7A"/>
          </a:solidFill>
          <a:ln w="12700">
            <a:solidFill>
              <a:srgbClr val="1A8C7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468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05840" y="2423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Copilot Is — and Isn't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27706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framing before building expectations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005840" y="3108960"/>
            <a:ext cx="3657600" cy="0"/>
          </a:xfrm>
          <a:prstGeom prst="line">
            <a:avLst/>
          </a:prstGeom>
          <a:noFill/>
          <a:ln w="6350">
            <a:solidFill>
              <a:srgbClr val="E8EDE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3703320"/>
            <a:ext cx="502920" cy="502920"/>
          </a:xfrm>
          <a:prstGeom prst="ellipse">
            <a:avLst/>
          </a:prstGeom>
          <a:solidFill>
            <a:srgbClr val="1A8C7A"/>
          </a:solidFill>
          <a:ln w="12700">
            <a:solidFill>
              <a:srgbClr val="1A8C7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703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05840" y="3657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Evidence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05840" y="40050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queries answered on production data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005840" y="4343400"/>
            <a:ext cx="3657600" cy="0"/>
          </a:xfrm>
          <a:prstGeom prst="line">
            <a:avLst/>
          </a:prstGeom>
          <a:noFill/>
          <a:ln w="6350">
            <a:solidFill>
              <a:srgbClr val="E8EDE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54880" y="1234440"/>
            <a:ext cx="502920" cy="502920"/>
          </a:xfrm>
          <a:prstGeom prst="ellipse">
            <a:avLst/>
          </a:prstGeom>
          <a:solidFill>
            <a:srgbClr val="1A8C7A"/>
          </a:solidFill>
          <a:ln w="12700">
            <a:solidFill>
              <a:srgbClr val="1A8C7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0" y="1234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394960" y="1188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Use It Well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394960" y="15361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prompting formula and model readiness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394960" y="1874520"/>
            <a:ext cx="3657600" cy="0"/>
          </a:xfrm>
          <a:prstGeom prst="line">
            <a:avLst/>
          </a:prstGeom>
          <a:noFill/>
          <a:ln w="6350">
            <a:solidFill>
              <a:srgbClr val="E8EDE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0" y="2468880"/>
            <a:ext cx="502920" cy="502920"/>
          </a:xfrm>
          <a:prstGeom prst="ellipse">
            <a:avLst/>
          </a:prstGeom>
          <a:solidFill>
            <a:srgbClr val="1A8C7A"/>
          </a:solidFill>
          <a:ln w="12700">
            <a:solidFill>
              <a:srgbClr val="1A8C7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0" y="2468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394960" y="2423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Constraints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394960" y="27706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can't engineer away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394960" y="3108960"/>
            <a:ext cx="3657600" cy="0"/>
          </a:xfrm>
          <a:prstGeom prst="line">
            <a:avLst/>
          </a:prstGeom>
          <a:noFill/>
          <a:ln w="6350">
            <a:solidFill>
              <a:srgbClr val="E8EDE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754880" y="3703320"/>
            <a:ext cx="502920" cy="502920"/>
          </a:xfrm>
          <a:prstGeom prst="ellipse">
            <a:avLst/>
          </a:prstGeom>
          <a:solidFill>
            <a:srgbClr val="1A8C7A"/>
          </a:solidFill>
          <a:ln w="12700">
            <a:solidFill>
              <a:srgbClr val="1A8C7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0" y="3703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394960" y="3657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394960" y="40050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decisions for leadership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394960" y="4343400"/>
            <a:ext cx="3657600" cy="0"/>
          </a:xfrm>
          <a:prstGeom prst="line">
            <a:avLst/>
          </a:prstGeom>
          <a:noFill/>
          <a:ln w="6350">
            <a:solidFill>
              <a:srgbClr val="E8EDEF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·  The Problem Worth Solving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8412480" cy="914400"/>
          </a:xfrm>
          <a:prstGeom prst="rect">
            <a:avLst/>
          </a:prstGeom>
          <a:solidFill>
            <a:srgbClr val="1A8C7A">
              <a:alpha val="12000"/>
            </a:srgbClr>
          </a:solidFill>
          <a:ln w="12700">
            <a:solidFill>
              <a:srgbClr val="1A8C7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43000"/>
            <a:ext cx="109728" cy="914400"/>
          </a:xfrm>
          <a:prstGeom prst="rect">
            <a:avLst/>
          </a:prstGeom>
          <a:solidFill>
            <a:srgbClr val="1A8C7A"/>
          </a:solidFill>
          <a:ln w="12700">
            <a:solidFill>
              <a:srgbClr val="1A8C7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18872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1A8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“Teams have dashboards. What they don’t have is answers.”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20040" y="2212848"/>
            <a:ext cx="2651760" cy="2542032"/>
          </a:xfrm>
          <a:prstGeom prst="rect">
            <a:avLst/>
          </a:prstGeom>
          <a:solidFill>
            <a:srgbClr val="F4F8F7"/>
          </a:solidFill>
          <a:ln w="6350">
            <a:solidFill>
              <a:srgbClr val="E8ED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2212848"/>
            <a:ext cx="2651760" cy="73152"/>
          </a:xfrm>
          <a:prstGeom prst="rect">
            <a:avLst/>
          </a:prstGeom>
          <a:solidFill>
            <a:srgbClr val="1A8C7A"/>
          </a:solidFill>
          <a:ln w="12700">
            <a:solidFill>
              <a:srgbClr val="1A8C7A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" y="2359152"/>
            <a:ext cx="411480" cy="4114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57200" y="285292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time is misallocated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57200" y="3328416"/>
            <a:ext cx="237744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disproportionate share of analyst hours goes to answering the same ad-hoc questions that repeat every review cycle.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200400" y="2212848"/>
            <a:ext cx="2651760" cy="2542032"/>
          </a:xfrm>
          <a:prstGeom prst="rect">
            <a:avLst/>
          </a:prstGeom>
          <a:solidFill>
            <a:srgbClr val="F4F8F7"/>
          </a:solidFill>
          <a:ln w="6350">
            <a:solidFill>
              <a:srgbClr val="E8ED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200400" y="2212848"/>
            <a:ext cx="2651760" cy="73152"/>
          </a:xfrm>
          <a:prstGeom prst="rect">
            <a:avLst/>
          </a:prstGeom>
          <a:solidFill>
            <a:srgbClr val="1A8C7A"/>
          </a:solidFill>
          <a:ln w="12700">
            <a:solidFill>
              <a:srgbClr val="1A8C7A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4992" y="2359152"/>
            <a:ext cx="411480" cy="4114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337560" y="285292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available; insights aren’t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3337560" y="3328416"/>
            <a:ext cx="237744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adoption is high but insight extraction is low. People see numbers; they struggle to interpret them without help.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6080760" y="2212848"/>
            <a:ext cx="2651760" cy="2542032"/>
          </a:xfrm>
          <a:prstGeom prst="rect">
            <a:avLst/>
          </a:prstGeom>
          <a:solidFill>
            <a:srgbClr val="F4F8F7"/>
          </a:solidFill>
          <a:ln w="6350">
            <a:solidFill>
              <a:srgbClr val="E8ED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080760" y="2212848"/>
            <a:ext cx="2651760" cy="73152"/>
          </a:xfrm>
          <a:prstGeom prst="rect">
            <a:avLst/>
          </a:prstGeom>
          <a:solidFill>
            <a:srgbClr val="1A8C7A"/>
          </a:solidFill>
          <a:ln w="12700">
            <a:solidFill>
              <a:srgbClr val="1A8C7A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5352" y="2359152"/>
            <a:ext cx="411480" cy="41148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217920" y="285292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made without data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6217920" y="3328416"/>
            <a:ext cx="237744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users either wait for analyst support or proceed without evidence. Both options carry risk.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320040" y="482803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8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isn’t data availability — it’s time-to-insight.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What Copilot Is — and Isn’t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3931920" cy="457200"/>
          </a:xfrm>
          <a:prstGeom prst="rect">
            <a:avLst/>
          </a:prstGeom>
          <a:solidFill>
            <a:srgbClr val="1A8C7A"/>
          </a:solidFill>
          <a:ln w="12700">
            <a:solidFill>
              <a:srgbClr val="1A8C7A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" y="1161288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117043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320040" y="1664208"/>
            <a:ext cx="3931920" cy="713232"/>
          </a:xfrm>
          <a:prstGeom prst="rect">
            <a:avLst/>
          </a:prstGeom>
          <a:solidFill>
            <a:srgbClr val="F4F8F7"/>
          </a:solidFill>
          <a:ln w="3810">
            <a:solidFill>
              <a:srgbClr val="E8EDE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20040" y="1664208"/>
            <a:ext cx="64008" cy="713232"/>
          </a:xfrm>
          <a:prstGeom prst="rect">
            <a:avLst/>
          </a:prstGeom>
          <a:solidFill>
            <a:srgbClr val="1A8C7A"/>
          </a:solidFill>
          <a:ln w="12700">
            <a:solidFill>
              <a:srgbClr val="1A8C7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17373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very fast in-report analyst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201168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Lives inside the report, optimised for accurate grounded answers within the semantic model.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20040" y="2468880"/>
            <a:ext cx="3931920" cy="713232"/>
          </a:xfrm>
          <a:prstGeom prst="rect">
            <a:avLst/>
          </a:prstGeom>
          <a:solidFill>
            <a:srgbClr val="FFFFFF"/>
          </a:solidFill>
          <a:ln w="3810">
            <a:solidFill>
              <a:srgbClr val="E8EDE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20040" y="2468880"/>
            <a:ext cx="64008" cy="713232"/>
          </a:xfrm>
          <a:prstGeom prst="rect">
            <a:avLst/>
          </a:prstGeom>
          <a:solidFill>
            <a:srgbClr val="1A8C7A"/>
          </a:solidFill>
          <a:ln w="12700">
            <a:solidFill>
              <a:srgbClr val="1A8C7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7200" y="254203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→ instant insight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57200" y="2816352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ask in plain English. Copilot returns KPIs, trends, top drivers, and root-cause narratives.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320040" y="3273552"/>
            <a:ext cx="3931920" cy="713232"/>
          </a:xfrm>
          <a:prstGeom prst="rect">
            <a:avLst/>
          </a:prstGeom>
          <a:solidFill>
            <a:srgbClr val="F4F8F7"/>
          </a:solidFill>
          <a:ln w="3810">
            <a:solidFill>
              <a:srgbClr val="E8EDE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20040" y="3273552"/>
            <a:ext cx="64008" cy="713232"/>
          </a:xfrm>
          <a:prstGeom prst="rect">
            <a:avLst/>
          </a:prstGeom>
          <a:solidFill>
            <a:srgbClr val="1A8C7A"/>
          </a:solidFill>
          <a:ln w="12700">
            <a:solidFill>
              <a:srgbClr val="1A8C7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57200" y="334670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On-demand executive summary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57200" y="3621024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Summarise in 5 bullets. Write a 2-paragraph exec summary. List top 3 questions to investigate.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320040" y="4078224"/>
            <a:ext cx="3931920" cy="713232"/>
          </a:xfrm>
          <a:prstGeom prst="rect">
            <a:avLst/>
          </a:prstGeom>
          <a:solidFill>
            <a:srgbClr val="FFFFFF"/>
          </a:solidFill>
          <a:ln w="3810">
            <a:solidFill>
              <a:srgbClr val="E8EDEF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320040" y="4078224"/>
            <a:ext cx="64008" cy="713232"/>
          </a:xfrm>
          <a:prstGeom prst="rect">
            <a:avLst/>
          </a:prstGeom>
          <a:solidFill>
            <a:srgbClr val="1A8C7A"/>
          </a:solidFill>
          <a:ln w="12700">
            <a:solidFill>
              <a:srgbClr val="1A8C7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57200" y="41513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across all users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457200" y="4425696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Instructions and Verified Answers ensure every user gets the same business-aligned response.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4892040" y="1097280"/>
            <a:ext cx="3931920" cy="45720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0912" y="1161288"/>
            <a:ext cx="274320" cy="274320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5349240" y="117043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ISN’T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4892040" y="1664208"/>
            <a:ext cx="3931920" cy="713232"/>
          </a:xfrm>
          <a:prstGeom prst="rect">
            <a:avLst/>
          </a:prstGeom>
          <a:solidFill>
            <a:srgbClr val="F4F8F7"/>
          </a:solidFill>
          <a:ln w="3810">
            <a:solidFill>
              <a:srgbClr val="E8EDEF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4892040" y="1664208"/>
            <a:ext cx="64008" cy="713232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5029200" y="17373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Microsoft 365 Copilot</a:t>
            </a:r>
            <a:endParaRPr lang="en-US" sz="1200" dirty="0"/>
          </a:p>
        </p:txBody>
      </p:sp>
      <p:sp>
        <p:nvSpPr>
          <p:cNvPr id="29" name="Text 25"/>
          <p:cNvSpPr/>
          <p:nvPr/>
        </p:nvSpPr>
        <p:spPr>
          <a:xfrm>
            <a:off x="5029200" y="201168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email/doc drafting. Scope clearly — it operates strictly within the Power BI report boundary.</a:t>
            </a:r>
            <a:endParaRPr lang="en-US" sz="1000" dirty="0"/>
          </a:p>
        </p:txBody>
      </p:sp>
      <p:sp>
        <p:nvSpPr>
          <p:cNvPr id="30" name="Shape 26"/>
          <p:cNvSpPr/>
          <p:nvPr/>
        </p:nvSpPr>
        <p:spPr>
          <a:xfrm>
            <a:off x="4892040" y="2468880"/>
            <a:ext cx="3931920" cy="713232"/>
          </a:xfrm>
          <a:prstGeom prst="rect">
            <a:avLst/>
          </a:prstGeom>
          <a:solidFill>
            <a:srgbClr val="FFFFFF"/>
          </a:solidFill>
          <a:ln w="3810">
            <a:solidFill>
              <a:srgbClr val="E8EDEF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4892040" y="2468880"/>
            <a:ext cx="64008" cy="713232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5029200" y="254203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replacement for judgment</a:t>
            </a:r>
            <a:endParaRPr lang="en-US" sz="1200" dirty="0"/>
          </a:p>
        </p:txBody>
      </p:sp>
      <p:sp>
        <p:nvSpPr>
          <p:cNvPr id="33" name="Text 29"/>
          <p:cNvSpPr/>
          <p:nvPr/>
        </p:nvSpPr>
        <p:spPr>
          <a:xfrm>
            <a:off x="5029200" y="2816352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regulatory and strategic questions still require human expertise and critical review.</a:t>
            </a:r>
            <a:endParaRPr lang="en-US" sz="1000" dirty="0"/>
          </a:p>
        </p:txBody>
      </p:sp>
      <p:sp>
        <p:nvSpPr>
          <p:cNvPr id="34" name="Shape 30"/>
          <p:cNvSpPr/>
          <p:nvPr/>
        </p:nvSpPr>
        <p:spPr>
          <a:xfrm>
            <a:off x="4892040" y="3273552"/>
            <a:ext cx="3931920" cy="713232"/>
          </a:xfrm>
          <a:prstGeom prst="rect">
            <a:avLst/>
          </a:prstGeom>
          <a:solidFill>
            <a:srgbClr val="F4F8F7"/>
          </a:solidFill>
          <a:ln w="3810">
            <a:solidFill>
              <a:srgbClr val="E8EDEF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4892040" y="3273552"/>
            <a:ext cx="64008" cy="713232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5029200" y="334670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omniscient</a:t>
            </a:r>
            <a:endParaRPr lang="en-US" sz="1200" dirty="0"/>
          </a:p>
        </p:txBody>
      </p:sp>
      <p:sp>
        <p:nvSpPr>
          <p:cNvPr id="37" name="Text 33"/>
          <p:cNvSpPr/>
          <p:nvPr/>
        </p:nvSpPr>
        <p:spPr>
          <a:xfrm>
            <a:off x="5029200" y="3621024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can only answer what your semantic model contains. Its quality ceiling is your data model quality.</a:t>
            </a:r>
            <a:endParaRPr lang="en-US" sz="1000" dirty="0"/>
          </a:p>
        </p:txBody>
      </p:sp>
      <p:sp>
        <p:nvSpPr>
          <p:cNvPr id="38" name="Shape 34"/>
          <p:cNvSpPr/>
          <p:nvPr/>
        </p:nvSpPr>
        <p:spPr>
          <a:xfrm>
            <a:off x="4892040" y="4078224"/>
            <a:ext cx="3931920" cy="713232"/>
          </a:xfrm>
          <a:prstGeom prst="rect">
            <a:avLst/>
          </a:prstGeom>
          <a:solidFill>
            <a:srgbClr val="FFFFFF"/>
          </a:solidFill>
          <a:ln w="3810">
            <a:solidFill>
              <a:srgbClr val="E8EDEF"/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4892040" y="4078224"/>
            <a:ext cx="64008" cy="713232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5029200" y="41513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always deterministic</a:t>
            </a:r>
            <a:endParaRPr lang="en-US" sz="1200" dirty="0"/>
          </a:p>
        </p:txBody>
      </p:sp>
      <p:sp>
        <p:nvSpPr>
          <p:cNvPr id="41" name="Text 37"/>
          <p:cNvSpPr/>
          <p:nvPr/>
        </p:nvSpPr>
        <p:spPr>
          <a:xfrm>
            <a:off x="5029200" y="4425696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Nondeterministic by design — same question may produce varied phrasing. Plan for this in governance.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A8C7A"/>
          </a:solidFill>
          <a:ln w="12700">
            <a:solidFill>
              <a:srgbClr val="1A8C7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9144000" cy="941832"/>
          </a:xfrm>
          <a:prstGeom prst="rect">
            <a:avLst/>
          </a:prstGeom>
          <a:solidFill>
            <a:srgbClr val="162447"/>
          </a:solidFill>
          <a:ln w="12700">
            <a:solidFill>
              <a:srgbClr val="16244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Live Evidence: Real Queries on Production Data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0789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8E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real Copilot responses from the RWA AIRB dashboard — no demos, no staging environment.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463040"/>
            <a:ext cx="8503920" cy="1051560"/>
          </a:xfrm>
          <a:prstGeom prst="rect">
            <a:avLst/>
          </a:prstGeom>
          <a:solidFill>
            <a:srgbClr val="162447"/>
          </a:solidFill>
          <a:ln w="12700">
            <a:solidFill>
              <a:srgbClr val="1A8C7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463040"/>
            <a:ext cx="91440" cy="1051560"/>
          </a:xfrm>
          <a:prstGeom prst="rect">
            <a:avLst/>
          </a:prstGeom>
          <a:solidFill>
            <a:srgbClr val="1A8C7A"/>
          </a:solidFill>
          <a:ln w="12700">
            <a:solidFill>
              <a:srgbClr val="1A8C7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0352" y="1554480"/>
            <a:ext cx="1261872" cy="246888"/>
          </a:xfrm>
          <a:prstGeom prst="rect">
            <a:avLst/>
          </a:prstGeom>
          <a:solidFill>
            <a:srgbClr val="1A8C7A">
              <a:alpha val="25000"/>
            </a:srgbClr>
          </a:solidFill>
          <a:ln w="6350">
            <a:solidFill>
              <a:srgbClr val="1A8C7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1554480"/>
            <a:ext cx="12618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&amp; CHANGE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920240" y="1536192"/>
            <a:ext cx="6675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8E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“What’s the change of RWA Period Average in Q4 2025 vs Q1 2025? Show the delta and % change”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30352" y="1975104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returned the delta and % change instantly, correctly identifying measures, date grain, and comparison period — no analyst involvement required.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0040" y="2633472"/>
            <a:ext cx="8503920" cy="1051560"/>
          </a:xfrm>
          <a:prstGeom prst="rect">
            <a:avLst/>
          </a:prstGeom>
          <a:solidFill>
            <a:srgbClr val="162447"/>
          </a:solidFill>
          <a:ln w="12700">
            <a:solidFill>
              <a:srgbClr val="22B09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" y="2633472"/>
            <a:ext cx="91440" cy="1051560"/>
          </a:xfrm>
          <a:prstGeom prst="rect">
            <a:avLst/>
          </a:prstGeom>
          <a:solidFill>
            <a:srgbClr val="22B09A"/>
          </a:solidFill>
          <a:ln w="12700">
            <a:solidFill>
              <a:srgbClr val="22B09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30352" y="2724912"/>
            <a:ext cx="1261872" cy="246888"/>
          </a:xfrm>
          <a:prstGeom prst="rect">
            <a:avLst/>
          </a:prstGeom>
          <a:solidFill>
            <a:srgbClr val="22B09A">
              <a:alpha val="25000"/>
            </a:srgbClr>
          </a:solidFill>
          <a:ln w="6350">
            <a:solidFill>
              <a:srgbClr val="22B0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" y="2724912"/>
            <a:ext cx="12618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920240" y="2706624"/>
            <a:ext cx="6675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8E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are the top 3 drivers for the RAM trough in Sep-24 and the peak in late 2025?”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30352" y="3145536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Sep-24 trough decomposed: elevated Risk Amount ($305M), Charge-offs ($122M), LLR change ($44M). Each driver named and quantified. Meeting-ready narrative returned.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20040" y="3803904"/>
            <a:ext cx="8503920" cy="1051560"/>
          </a:xfrm>
          <a:prstGeom prst="rect">
            <a:avLst/>
          </a:prstGeom>
          <a:solidFill>
            <a:srgbClr val="162447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" y="3803904"/>
            <a:ext cx="91440" cy="1051560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30352" y="3895344"/>
            <a:ext cx="1261872" cy="246888"/>
          </a:xfrm>
          <a:prstGeom prst="rect">
            <a:avLst/>
          </a:prstGeom>
          <a:solidFill>
            <a:srgbClr val="E8B84B">
              <a:alpha val="25000"/>
            </a:srgbClr>
          </a:solidFill>
          <a:ln w="6350">
            <a:solidFill>
              <a:srgbClr val="E8B84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0352" y="3895344"/>
            <a:ext cx="12618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DEEP DIVE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920240" y="3877056"/>
            <a:ext cx="6675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8E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“Which customer segments contributed most to the Dec 2025 peak? Use credit limit, utilisation, and YOB bands.”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30352" y="4315968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Non-Default, 10k–20k limit, 90–100% utilisation, 6+ YOB identified as dominant — 19.2M RAR, 6.49% of total. Multi-dimensional breakdown returned in one prompt.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57200" y="4892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A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RWA AIRB Power BI dashboard — live internal sessions, April 2026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The Narrative Summary Use Case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8503920" cy="658368"/>
          </a:xfrm>
          <a:prstGeom prst="rect">
            <a:avLst/>
          </a:prstGeom>
          <a:solidFill>
            <a:srgbClr val="1A8C7A">
              <a:alpha val="12000"/>
            </a:srgbClr>
          </a:solidFill>
          <a:ln w="12700">
            <a:solidFill>
              <a:srgbClr val="1A8C7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097280"/>
            <a:ext cx="91440" cy="658368"/>
          </a:xfrm>
          <a:prstGeom prst="rect">
            <a:avLst/>
          </a:prstGeom>
          <a:solidFill>
            <a:srgbClr val="1A8C7A"/>
          </a:solidFill>
          <a:ln w="12700">
            <a:solidFill>
              <a:srgbClr val="1A8C7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161288"/>
            <a:ext cx="8046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8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is especially powerful for leaders who need the story, not the spreadsheet.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0040" y="1901952"/>
            <a:ext cx="4114800" cy="621792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1947672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8E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“Summarise this page in 5 bullets, focusing on trend, drivers, and risks”</a:t>
            </a:r>
            <a:endParaRPr lang="en-US" sz="105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26280" y="2075688"/>
            <a:ext cx="256032" cy="256032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4892040" y="1901952"/>
            <a:ext cx="3931920" cy="621792"/>
          </a:xfrm>
          <a:prstGeom prst="rect">
            <a:avLst/>
          </a:prstGeom>
          <a:solidFill>
            <a:srgbClr val="F4F8F7"/>
          </a:solidFill>
          <a:ln w="6350">
            <a:solidFill>
              <a:srgbClr val="1A8C7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892040" y="1901952"/>
            <a:ext cx="73152" cy="621792"/>
          </a:xfrm>
          <a:prstGeom prst="rect">
            <a:avLst/>
          </a:prstGeom>
          <a:solidFill>
            <a:srgbClr val="1A8C7A"/>
          </a:solidFill>
          <a:ln w="12700">
            <a:solidFill>
              <a:srgbClr val="1A8C7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47488" y="1947672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a full dashboard page into a status-update brief in seconds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320040" y="2889504"/>
            <a:ext cx="4114800" cy="621792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457200" y="2935224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8E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“Write a 2-paragraph executive summary of this page. Use plain language”</a:t>
            </a:r>
            <a:endParaRPr lang="en-US" sz="105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3063240"/>
            <a:ext cx="256032" cy="256032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4892040" y="2889504"/>
            <a:ext cx="3931920" cy="621792"/>
          </a:xfrm>
          <a:prstGeom prst="rect">
            <a:avLst/>
          </a:prstGeom>
          <a:solidFill>
            <a:srgbClr val="F4F8F7"/>
          </a:solidFill>
          <a:ln w="6350">
            <a:solidFill>
              <a:srgbClr val="1A8C7A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4892040" y="2889504"/>
            <a:ext cx="73152" cy="621792"/>
          </a:xfrm>
          <a:prstGeom prst="rect">
            <a:avLst/>
          </a:prstGeom>
          <a:solidFill>
            <a:srgbClr val="1A8C7A"/>
          </a:solidFill>
          <a:ln w="12700">
            <a:solidFill>
              <a:srgbClr val="1A8C7A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047488" y="2935224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Meeting-ready narrative any stakeholder can read without opening the report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320040" y="3877056"/>
            <a:ext cx="4114800" cy="621792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6"/>
          <p:cNvSpPr/>
          <p:nvPr/>
        </p:nvSpPr>
        <p:spPr>
          <a:xfrm>
            <a:off x="457200" y="3922776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8E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“List top 3 insights and top 3 questions to investigate next based on this page”</a:t>
            </a:r>
            <a:endParaRPr lang="en-US" sz="1050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6280" y="4050792"/>
            <a:ext cx="256032" cy="256032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4892040" y="3877056"/>
            <a:ext cx="3931920" cy="621792"/>
          </a:xfrm>
          <a:prstGeom prst="rect">
            <a:avLst/>
          </a:prstGeom>
          <a:solidFill>
            <a:srgbClr val="F4F8F7"/>
          </a:solidFill>
          <a:ln w="6350">
            <a:solidFill>
              <a:srgbClr val="1A8C7A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4892040" y="3877056"/>
            <a:ext cx="73152" cy="621792"/>
          </a:xfrm>
          <a:prstGeom prst="rect">
            <a:avLst/>
          </a:prstGeom>
          <a:solidFill>
            <a:srgbClr val="1A8C7A"/>
          </a:solidFill>
          <a:ln w="12700">
            <a:solidFill>
              <a:srgbClr val="1A8C7A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5047488" y="3922776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Transforms Copilot into a pre-read generator — surfaces questions before the meeting starts</a:t>
            </a:r>
            <a:endParaRPr lang="en-US" sz="1050" dirty="0"/>
          </a:p>
        </p:txBody>
      </p:sp>
      <p:sp>
        <p:nvSpPr>
          <p:cNvPr id="25" name="Shape 20"/>
          <p:cNvSpPr/>
          <p:nvPr/>
        </p:nvSpPr>
        <p:spPr>
          <a:xfrm>
            <a:off x="320040" y="4773168"/>
            <a:ext cx="8503920" cy="310896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457200" y="480060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E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prompts work on any Power BI report with Copilot enabled — no custom configuration required.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How to Use It Well: The Prompting Formula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0789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quality determines answer quality. Users who apply this formula get dramatically better results.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481328"/>
            <a:ext cx="1828800" cy="1572768"/>
          </a:xfrm>
          <a:prstGeom prst="rect">
            <a:avLst/>
          </a:prstGeom>
          <a:solidFill>
            <a:srgbClr val="1A8C7A"/>
          </a:solidFill>
          <a:ln w="12700">
            <a:solidFill>
              <a:srgbClr val="1A8C7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568" y="160020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217627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25146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E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Rate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2377440" y="2103120"/>
            <a:ext cx="12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8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590800" y="1481328"/>
            <a:ext cx="1828800" cy="1572768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9168" y="1600200"/>
            <a:ext cx="502920" cy="5029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590800" y="217627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TIMEFRAME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2590800" y="25146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E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6 months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4511040" y="2103120"/>
            <a:ext cx="12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8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200" dirty="0"/>
          </a:p>
        </p:txBody>
      </p:sp>
      <p:sp>
        <p:nvSpPr>
          <p:cNvPr id="15" name="Shape 11"/>
          <p:cNvSpPr/>
          <p:nvPr/>
        </p:nvSpPr>
        <p:spPr>
          <a:xfrm>
            <a:off x="4724400" y="1481328"/>
            <a:ext cx="1828800" cy="1572768"/>
          </a:xfrm>
          <a:prstGeom prst="rect">
            <a:avLst/>
          </a:prstGeom>
          <a:solidFill>
            <a:srgbClr val="1A8C7A"/>
          </a:solidFill>
          <a:ln w="12700">
            <a:solidFill>
              <a:srgbClr val="1A8C7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2768" y="1600200"/>
            <a:ext cx="502920" cy="5029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724400" y="217627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BREAKDOWN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4724400" y="25146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E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Partner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6644640" y="2103120"/>
            <a:ext cx="12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8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200" dirty="0"/>
          </a:p>
        </p:txBody>
      </p:sp>
      <p:sp>
        <p:nvSpPr>
          <p:cNvPr id="20" name="Shape 15"/>
          <p:cNvSpPr/>
          <p:nvPr/>
        </p:nvSpPr>
        <p:spPr>
          <a:xfrm>
            <a:off x="6858000" y="1481328"/>
            <a:ext cx="1828800" cy="1572768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6368" y="1600200"/>
            <a:ext cx="502920" cy="5029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858000" y="217627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6858000" y="25146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E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channel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457200" y="324612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PROMPT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457200" y="3520440"/>
            <a:ext cx="3931920" cy="621792"/>
          </a:xfrm>
          <a:prstGeom prst="rect">
            <a:avLst/>
          </a:prstGeom>
          <a:solidFill>
            <a:srgbClr val="FDF0EF"/>
          </a:solidFill>
          <a:ln w="6350">
            <a:solidFill>
              <a:srgbClr val="C0392B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457200" y="3520440"/>
            <a:ext cx="73152" cy="6217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640080" y="359359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“Show me approval rate”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4754880" y="324612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A8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PROMPT</a:t>
            </a:r>
            <a:endParaRPr lang="en-US" sz="1000" dirty="0"/>
          </a:p>
        </p:txBody>
      </p:sp>
      <p:sp>
        <p:nvSpPr>
          <p:cNvPr id="29" name="Shape 23"/>
          <p:cNvSpPr/>
          <p:nvPr/>
        </p:nvSpPr>
        <p:spPr>
          <a:xfrm>
            <a:off x="4754880" y="3520440"/>
            <a:ext cx="4206240" cy="621792"/>
          </a:xfrm>
          <a:prstGeom prst="rect">
            <a:avLst/>
          </a:prstGeom>
          <a:solidFill>
            <a:srgbClr val="EEF8F6"/>
          </a:solidFill>
          <a:ln w="6350">
            <a:solidFill>
              <a:srgbClr val="1A8C7A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4754880" y="3520440"/>
            <a:ext cx="73152" cy="621792"/>
          </a:xfrm>
          <a:prstGeom prst="rect">
            <a:avLst/>
          </a:prstGeom>
          <a:solidFill>
            <a:srgbClr val="1A8C7A"/>
          </a:solidFill>
          <a:ln w="12700">
            <a:solidFill>
              <a:srgbClr val="1A8C7A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4937760" y="356616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8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“Approval rate trend last 6 months by Partner, Digital channel only”</a:t>
            </a:r>
            <a:endParaRPr lang="en-US" sz="1100" dirty="0"/>
          </a:p>
        </p:txBody>
      </p:sp>
      <p:sp>
        <p:nvSpPr>
          <p:cNvPr id="32" name="Shape 26"/>
          <p:cNvSpPr/>
          <p:nvPr/>
        </p:nvSpPr>
        <p:spPr>
          <a:xfrm>
            <a:off x="320040" y="4315968"/>
            <a:ext cx="8503920" cy="59436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3" name="Text 27"/>
          <p:cNvSpPr/>
          <p:nvPr/>
        </p:nvSpPr>
        <p:spPr>
          <a:xfrm>
            <a:off x="502920" y="440740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E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skill, not a button. A 30-minute training session per team materially shifts output quality.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Your Semantic Model is Copilot’s Ceiling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0789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investments unlock production-quality Copilot. Implement in this order: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444752"/>
            <a:ext cx="8503920" cy="1024128"/>
          </a:xfrm>
          <a:prstGeom prst="rect">
            <a:avLst/>
          </a:prstGeom>
          <a:solidFill>
            <a:srgbClr val="F4F8F7"/>
          </a:solidFill>
          <a:ln w="3810">
            <a:solidFill>
              <a:srgbClr val="E8ED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84048" y="1691640"/>
            <a:ext cx="475488" cy="475488"/>
          </a:xfrm>
          <a:prstGeom prst="ellipse">
            <a:avLst/>
          </a:prstGeom>
          <a:solidFill>
            <a:srgbClr val="1A8C7A"/>
          </a:solidFill>
          <a:ln w="12700">
            <a:solidFill>
              <a:srgbClr val="1A8C7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6916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1536192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Data Schema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1901952"/>
            <a:ext cx="5303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the exact fields and measures Copilot should reason over. Remove ambiguous or overlapping columns. This alone cuts hallucination risk significantly.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492240" y="1719072"/>
            <a:ext cx="2194560" cy="411480"/>
          </a:xfrm>
          <a:prstGeom prst="rect">
            <a:avLst/>
          </a:prstGeom>
          <a:solidFill>
            <a:srgbClr val="1A8C7A">
              <a:alpha val="15000"/>
            </a:srgbClr>
          </a:solidFill>
          <a:ln w="6350">
            <a:solidFill>
              <a:srgbClr val="1A8C7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1719072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8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— do this first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0040" y="2596896"/>
            <a:ext cx="8503920" cy="1024128"/>
          </a:xfrm>
          <a:prstGeom prst="rect">
            <a:avLst/>
          </a:prstGeom>
          <a:solidFill>
            <a:srgbClr val="FFFFFF"/>
          </a:solidFill>
          <a:ln w="3810">
            <a:solidFill>
              <a:srgbClr val="E8EDE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84048" y="2843784"/>
            <a:ext cx="475488" cy="475488"/>
          </a:xfrm>
          <a:prstGeom prst="ellipse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" y="284378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05840" y="2688336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Answers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05840" y="3054096"/>
            <a:ext cx="5303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Pre-approve visual responses to your most common business questions. Trigger phrases ensure every user gets the same, human-validated answer to critical KPIs.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492240" y="2871216"/>
            <a:ext cx="2194560" cy="411480"/>
          </a:xfrm>
          <a:prstGeom prst="rect">
            <a:avLst/>
          </a:prstGeom>
          <a:solidFill>
            <a:srgbClr val="0F1F3D">
              <a:alpha val="15000"/>
            </a:srgbClr>
          </a:solidFill>
          <a:ln w="6350">
            <a:solidFill>
              <a:srgbClr val="0F1F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92240" y="2871216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 — eliminates variation on key questions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20040" y="3749040"/>
            <a:ext cx="8503920" cy="1024128"/>
          </a:xfrm>
          <a:prstGeom prst="rect">
            <a:avLst/>
          </a:prstGeom>
          <a:solidFill>
            <a:srgbClr val="F4F8F7"/>
          </a:solidFill>
          <a:ln w="3810">
            <a:solidFill>
              <a:srgbClr val="E8EDE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84048" y="3995928"/>
            <a:ext cx="475488" cy="475488"/>
          </a:xfrm>
          <a:prstGeom prst="ellipse">
            <a:avLst/>
          </a:prstGeom>
          <a:solidFill>
            <a:srgbClr val="1A8C7A"/>
          </a:solidFill>
          <a:ln w="12700">
            <a:solidFill>
              <a:srgbClr val="1A8C7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" y="39959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05840" y="384048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Instructions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05840" y="4206240"/>
            <a:ext cx="5303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business context directly into the model: terminology, synonym mappings, analytical priorities. Copilot’s quality ceiling rises proportionally.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492240" y="4023360"/>
            <a:ext cx="2194560" cy="411480"/>
          </a:xfrm>
          <a:prstGeom prst="rect">
            <a:avLst/>
          </a:prstGeom>
          <a:solidFill>
            <a:srgbClr val="1A8C7A">
              <a:alpha val="15000"/>
            </a:srgbClr>
          </a:solidFill>
          <a:ln w="6350">
            <a:solidFill>
              <a:srgbClr val="1A8C7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92240" y="40233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8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ceiling — fine-tune after 1 and 2 are set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20040" y="4937760"/>
            <a:ext cx="8503920" cy="155448"/>
          </a:xfrm>
          <a:prstGeom prst="rect">
            <a:avLst/>
          </a:prstGeom>
          <a:solidFill>
            <a:srgbClr val="1A8C7A"/>
          </a:solidFill>
          <a:ln w="12700">
            <a:solidFill>
              <a:srgbClr val="1A8C7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4937760"/>
            <a:ext cx="8321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this investment, Copilot output is inconsistent. With it, it is reliable.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·  Known Constraints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0789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expectations — not blockers. Knowing them up front protects the rollout.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444752"/>
            <a:ext cx="4114800" cy="1691640"/>
          </a:xfrm>
          <a:prstGeom prst="rect">
            <a:avLst/>
          </a:prstGeom>
          <a:solidFill>
            <a:srgbClr val="F4F8F7"/>
          </a:solidFill>
          <a:ln w="6350">
            <a:solidFill>
              <a:srgbClr val="E8ED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444752"/>
            <a:ext cx="4114800" cy="64008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337560" y="1581912"/>
            <a:ext cx="960120" cy="246888"/>
          </a:xfrm>
          <a:prstGeom prst="rect">
            <a:avLst/>
          </a:prstGeom>
          <a:solidFill>
            <a:srgbClr val="E8B84B">
              <a:alpha val="18000"/>
            </a:srgbClr>
          </a:solidFill>
          <a:ln w="6350">
            <a:solidFill>
              <a:srgbClr val="E8B8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37560" y="1581912"/>
            <a:ext cx="960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84632" y="155448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Non-deterministic output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4632" y="1947672"/>
            <a:ext cx="3794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question may produce slightly varied phrasing. Not suitable for regulatory-exact outputs without Verified Answers in place.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1480" y="2651760"/>
            <a:ext cx="3886200" cy="384048"/>
          </a:xfrm>
          <a:prstGeom prst="rect">
            <a:avLst/>
          </a:prstGeom>
          <a:solidFill>
            <a:srgbClr val="1A8C7A">
              <a:alpha val="12000"/>
            </a:srgbClr>
          </a:solidFill>
          <a:ln w="3810">
            <a:solidFill>
              <a:srgbClr val="1A8C7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67919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8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Use Verified Answers for all critical KPI questions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754880" y="1444752"/>
            <a:ext cx="4114800" cy="1691640"/>
          </a:xfrm>
          <a:prstGeom prst="rect">
            <a:avLst/>
          </a:prstGeom>
          <a:solidFill>
            <a:srgbClr val="F4F8F7"/>
          </a:solidFill>
          <a:ln w="6350">
            <a:solidFill>
              <a:srgbClr val="E8ED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1444752"/>
            <a:ext cx="4114800" cy="64008"/>
          </a:xfrm>
          <a:prstGeom prst="rect">
            <a:avLst/>
          </a:prstGeom>
          <a:solidFill>
            <a:srgbClr val="1A8C7A"/>
          </a:solidFill>
          <a:ln w="12700">
            <a:solidFill>
              <a:srgbClr val="1A8C7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0" y="1581912"/>
            <a:ext cx="960120" cy="246888"/>
          </a:xfrm>
          <a:prstGeom prst="rect">
            <a:avLst/>
          </a:prstGeom>
          <a:solidFill>
            <a:srgbClr val="1A8C7A">
              <a:alpha val="18000"/>
            </a:srgbClr>
          </a:solidFill>
          <a:ln w="6350">
            <a:solidFill>
              <a:srgbClr val="1A8C7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0" y="1581912"/>
            <a:ext cx="960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8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919472" y="155448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Report-bound scope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19472" y="1947672"/>
            <a:ext cx="3794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operates within the current report and semantic model only. Cross-report analysis requires separate configuration.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46320" y="2651760"/>
            <a:ext cx="3886200" cy="384048"/>
          </a:xfrm>
          <a:prstGeom prst="rect">
            <a:avLst/>
          </a:prstGeom>
          <a:solidFill>
            <a:srgbClr val="1A8C7A">
              <a:alpha val="12000"/>
            </a:srgbClr>
          </a:solidFill>
          <a:ln w="3810">
            <a:solidFill>
              <a:srgbClr val="1A8C7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7760" y="267919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8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Design reports around analytical domains, not individual views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0040" y="3273552"/>
            <a:ext cx="4114800" cy="1691640"/>
          </a:xfrm>
          <a:prstGeom prst="rect">
            <a:avLst/>
          </a:prstGeom>
          <a:solidFill>
            <a:srgbClr val="F4F8F7"/>
          </a:solidFill>
          <a:ln w="6350">
            <a:solidFill>
              <a:srgbClr val="E8ED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3273552"/>
            <a:ext cx="4114800" cy="64008"/>
          </a:xfrm>
          <a:prstGeom prst="rect">
            <a:avLst/>
          </a:prstGeom>
          <a:solidFill>
            <a:srgbClr val="1A8C7A"/>
          </a:solidFill>
          <a:ln w="12700">
            <a:solidFill>
              <a:srgbClr val="1A8C7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337560" y="3410712"/>
            <a:ext cx="960120" cy="246888"/>
          </a:xfrm>
          <a:prstGeom prst="rect">
            <a:avLst/>
          </a:prstGeom>
          <a:solidFill>
            <a:srgbClr val="1A8C7A">
              <a:alpha val="18000"/>
            </a:srgbClr>
          </a:solidFill>
          <a:ln w="6350">
            <a:solidFill>
              <a:srgbClr val="1A8C7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37560" y="3410712"/>
            <a:ext cx="960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8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84632" y="338328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queries self-flag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84632" y="3776472"/>
            <a:ext cx="3794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“This answer required more analysis than usual. Check it carefully.” — seen live. Copilot is transparent about its uncertainty.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11480" y="4480560"/>
            <a:ext cx="3886200" cy="384048"/>
          </a:xfrm>
          <a:prstGeom prst="rect">
            <a:avLst/>
          </a:prstGeom>
          <a:solidFill>
            <a:srgbClr val="1A8C7A">
              <a:alpha val="12000"/>
            </a:srgbClr>
          </a:solidFill>
          <a:ln w="3810">
            <a:solidFill>
              <a:srgbClr val="1A8C7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450799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8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Train users to treat flagged answers as requiring human review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54880" y="3273552"/>
            <a:ext cx="4114800" cy="1691640"/>
          </a:xfrm>
          <a:prstGeom prst="rect">
            <a:avLst/>
          </a:prstGeom>
          <a:solidFill>
            <a:srgbClr val="F4F8F7"/>
          </a:solidFill>
          <a:ln w="6350">
            <a:solidFill>
              <a:srgbClr val="E8ED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3273552"/>
            <a:ext cx="4114800" cy="640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772400" y="3410712"/>
            <a:ext cx="960120" cy="246888"/>
          </a:xfrm>
          <a:prstGeom prst="rect">
            <a:avLst/>
          </a:prstGeom>
          <a:solidFill>
            <a:srgbClr val="C0392B">
              <a:alpha val="18000"/>
            </a:srgbClr>
          </a:solidFill>
          <a:ln w="6350">
            <a:solidFill>
              <a:srgbClr val="C0392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772400" y="3410712"/>
            <a:ext cx="960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919472" y="338328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prep is prerequisite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919472" y="3776472"/>
            <a:ext cx="3794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AI Instructions, schema curation, and Verified Answers — output is inconsistent. This is a build investment, not flip-the-switch.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846320" y="4480560"/>
            <a:ext cx="3886200" cy="384048"/>
          </a:xfrm>
          <a:prstGeom prst="rect">
            <a:avLst/>
          </a:prstGeom>
          <a:solidFill>
            <a:srgbClr val="1A8C7A">
              <a:alpha val="12000"/>
            </a:srgbClr>
          </a:solidFill>
          <a:ln w="3810">
            <a:solidFill>
              <a:srgbClr val="1A8C7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37760" y="450799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8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Allocate 2–4 weeks per report suite for model preparation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A8C7A"/>
          </a:solidFill>
          <a:ln w="12700">
            <a:solidFill>
              <a:srgbClr val="1A8C7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9144000" cy="941832"/>
          </a:xfrm>
          <a:prstGeom prst="rect">
            <a:avLst/>
          </a:prstGeom>
          <a:solidFill>
            <a:srgbClr val="162447"/>
          </a:solidFill>
          <a:ln w="12700">
            <a:solidFill>
              <a:srgbClr val="16244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·  The Ask: Three Decisions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E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not asking for a full deployment decision today. We are asking for three focused approvals.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508760"/>
            <a:ext cx="8503920" cy="987552"/>
          </a:xfrm>
          <a:prstGeom prst="rect">
            <a:avLst/>
          </a:prstGeom>
          <a:solidFill>
            <a:srgbClr val="162447"/>
          </a:solidFill>
          <a:ln w="12700">
            <a:solidFill>
              <a:srgbClr val="1A8C7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746504"/>
            <a:ext cx="502920" cy="502920"/>
          </a:xfrm>
          <a:prstGeom prst="ellipse">
            <a:avLst/>
          </a:prstGeom>
          <a:solidFill>
            <a:srgbClr val="1A8C7A"/>
          </a:solidFill>
          <a:ln w="12700">
            <a:solidFill>
              <a:srgbClr val="1A8C7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74650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1764792"/>
            <a:ext cx="393192" cy="39319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572768" y="1581912"/>
            <a:ext cx="7040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Endorse a Pilot Scope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572768" y="1947672"/>
            <a:ext cx="7040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E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2–3 report suites where Copilot is enabled and measured: time-to-insight reduction, analyst question deflection rate, and user satisfaction score.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20040" y="2642616"/>
            <a:ext cx="8503920" cy="987552"/>
          </a:xfrm>
          <a:prstGeom prst="rect">
            <a:avLst/>
          </a:prstGeom>
          <a:solidFill>
            <a:srgbClr val="162447"/>
          </a:solidFill>
          <a:ln w="12700">
            <a:solidFill>
              <a:srgbClr val="22B09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11480" y="2880360"/>
            <a:ext cx="502920" cy="502920"/>
          </a:xfrm>
          <a:prstGeom prst="ellipse">
            <a:avLst/>
          </a:prstGeom>
          <a:solidFill>
            <a:srgbClr val="22B09A"/>
          </a:solidFill>
          <a:ln w="12700">
            <a:solidFill>
              <a:srgbClr val="22B09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11480" y="2880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2898648"/>
            <a:ext cx="393192" cy="39319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572768" y="2715768"/>
            <a:ext cx="7040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 in Model Preparation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1572768" y="3081528"/>
            <a:ext cx="7040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E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Allocate 2–4 weeks per report suite for AI Instructions, Verified Answers, and schema curation. This is the difference between demo-quality and production-quality Copilot.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320040" y="3776472"/>
            <a:ext cx="8503920" cy="987552"/>
          </a:xfrm>
          <a:prstGeom prst="rect">
            <a:avLst/>
          </a:prstGeom>
          <a:solidFill>
            <a:srgbClr val="162447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411480" y="4014216"/>
            <a:ext cx="502920" cy="502920"/>
          </a:xfrm>
          <a:prstGeom prst="ellipse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411480" y="40142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4032504"/>
            <a:ext cx="393192" cy="39319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572768" y="3849624"/>
            <a:ext cx="7040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User Enablement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1572768" y="4215384"/>
            <a:ext cx="7040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E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 prompt guide and a 30-minute training session per team. Low cost, high return. Protects the model preparation investment and accelerates time-to-value.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320040" y="4892040"/>
            <a:ext cx="8503920" cy="201168"/>
          </a:xfrm>
          <a:prstGeom prst="rect">
            <a:avLst/>
          </a:prstGeom>
          <a:solidFill>
            <a:srgbClr val="1A8C7A"/>
          </a:solidFill>
          <a:ln w="12700">
            <a:solidFill>
              <a:srgbClr val="1A8C7A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457200" y="4910328"/>
            <a:ext cx="8321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doesn’t replace your analysts — it makes every analyst faster and every user more independent.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1A8C7A"/>
          </a:solidFill>
          <a:ln w="12700">
            <a:solidFill>
              <a:srgbClr val="1A8C7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548640" y="3474720"/>
            <a:ext cx="2743200" cy="2743200"/>
          </a:xfrm>
          <a:prstGeom prst="ellipse">
            <a:avLst/>
          </a:prstGeom>
          <a:solidFill>
            <a:srgbClr val="22B09A">
              <a:alpha val="30000"/>
            </a:srgbClr>
          </a:solidFill>
          <a:ln w="12700">
            <a:solidFill>
              <a:srgbClr val="22B09A">
                <a:alpha val="5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82880"/>
            <a:ext cx="1645920" cy="1645920"/>
          </a:xfrm>
          <a:prstGeom prst="ellipse">
            <a:avLst/>
          </a:prstGeom>
          <a:solidFill>
            <a:srgbClr val="0F1F3D">
              <a:alpha val="25000"/>
            </a:srgbClr>
          </a:solidFill>
          <a:ln w="12700">
            <a:solidFill>
              <a:srgbClr val="0F1F3D">
                <a:alpha val="45000"/>
              </a:srgbClr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alphaModFix amt="85000"/>
          </a:blip>
          <a:stretch>
            <a:fillRect/>
          </a:stretch>
        </p:blipFill>
        <p:spPr>
          <a:xfrm>
            <a:off x="960120" y="1691640"/>
            <a:ext cx="1508760" cy="1508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840480" y="914400"/>
            <a:ext cx="5029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move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data to decisions?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3840480" y="2487168"/>
            <a:ext cx="3200400" cy="0"/>
          </a:xfrm>
          <a:prstGeom prst="line">
            <a:avLst/>
          </a:prstGeom>
          <a:noFill/>
          <a:ln w="25400">
            <a:solidFill>
              <a:srgbClr val="1A8C7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840480" y="2633472"/>
            <a:ext cx="5029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8E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step: align on pilot scope,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8E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2–3 report suites,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8E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kick off model preparation.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840480" y="4023360"/>
            <a:ext cx="2926080" cy="502920"/>
          </a:xfrm>
          <a:prstGeom prst="rect">
            <a:avLst/>
          </a:prstGeom>
          <a:solidFill>
            <a:srgbClr val="1A8C7A"/>
          </a:solidFill>
          <a:ln w="12700">
            <a:solidFill>
              <a:srgbClr val="1A8C7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3840480" y="4041648"/>
            <a:ext cx="292608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LET’S DISCUSS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3840480" y="484632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A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Internal Use Only  ·  April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Copilot in Power BI — Leadership Briefing</dc:title>
  <dc:subject>PptxGenJS Presentation</dc:subject>
  <dc:creator>PptxGenJS</dc:creator>
  <cp:lastModifiedBy>PptxGenJS</cp:lastModifiedBy>
  <cp:revision>1</cp:revision>
  <dcterms:created xsi:type="dcterms:W3CDTF">2026-04-06T17:19:44Z</dcterms:created>
  <dcterms:modified xsi:type="dcterms:W3CDTF">2026-04-06T17:19:44Z</dcterms:modified>
</cp:coreProperties>
</file>